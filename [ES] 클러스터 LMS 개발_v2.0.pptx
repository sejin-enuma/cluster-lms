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074258-6761-4FC6-A7D2-B6C093ABA159}">
  <a:tblStyle styleId="{12074258-6761-4FC6-A7D2-B6C093ABA15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71A7076-C842-4D8B-BEAF-2D16D67EBF6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75e93212ae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75e93212ae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5e93212ae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75e93212ae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a4c4553d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a4c4553d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a4e1a48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a4e1a48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4f957fcdf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4f957fcdf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a4e1a4811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a4e1a4811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a4e1a4811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a4e1a4811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350e91eb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350e91eb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350e91eb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350e91eb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350e91eb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350e91eb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4e1a4811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a4e1a4811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a4e1a4811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a4e1a4811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4f957fcdf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4f957fcdf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567400" y="2671775"/>
            <a:ext cx="611400" cy="22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1138775" y="2671771"/>
            <a:ext cx="2108400" cy="2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1138775" y="2702665"/>
            <a:ext cx="0" cy="1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567400" y="2890883"/>
            <a:ext cx="611400" cy="22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100"/>
              <a:buNone/>
              <a:defRPr b="1" sz="1100">
                <a:solidFill>
                  <a:srgbClr val="3F3F3F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1138775" y="2890886"/>
            <a:ext cx="2108400" cy="2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None/>
              <a:defRPr sz="1100">
                <a:solidFill>
                  <a:srgbClr val="7F7F7F"/>
                </a:solidFill>
              </a:defRPr>
            </a:lvl9pPr>
          </a:lstStyle>
          <a:p/>
        </p:txBody>
      </p:sp>
      <p:cxnSp>
        <p:nvCxnSpPr>
          <p:cNvPr id="15" name="Google Shape;15;p2"/>
          <p:cNvCxnSpPr/>
          <p:nvPr/>
        </p:nvCxnSpPr>
        <p:spPr>
          <a:xfrm>
            <a:off x="1138775" y="2921780"/>
            <a:ext cx="0" cy="17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2"/>
          <p:cNvSpPr txBox="1"/>
          <p:nvPr>
            <p:ph type="title"/>
          </p:nvPr>
        </p:nvSpPr>
        <p:spPr>
          <a:xfrm>
            <a:off x="566794" y="2164475"/>
            <a:ext cx="6760200" cy="454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Text">
  <p:cSld name="SECTION_HEADER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152400" y="7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155550" y="628000"/>
            <a:ext cx="883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MAIN_POINT">
    <p:bg>
      <p:bgPr>
        <a:solidFill>
          <a:srgbClr val="7F7F7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294750" y="2258100"/>
            <a:ext cx="8554500" cy="6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0" y="0"/>
            <a:ext cx="4579500" cy="5143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294750" y="2258100"/>
            <a:ext cx="4065600" cy="6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865225" y="798300"/>
            <a:ext cx="3972300" cy="3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152400" y="7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Only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Google Shape;34;p7"/>
          <p:cNvGraphicFramePr/>
          <p:nvPr/>
        </p:nvGraphicFramePr>
        <p:xfrm>
          <a:off x="58425" y="536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{12074258-6761-4FC6-A7D2-B6C093ABA159}</a:tableStyleId>
              </a:tblPr>
              <a:tblGrid>
                <a:gridCol w="631225"/>
                <a:gridCol w="5279275"/>
                <a:gridCol w="616400"/>
                <a:gridCol w="1476000"/>
                <a:gridCol w="470225"/>
                <a:gridCol w="554025"/>
              </a:tblGrid>
              <a:tr h="229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00"/>
                        <a:buFont typeface="Malgun Gothic"/>
                        <a:buNone/>
                      </a:pPr>
                      <a:r>
                        <a:rPr lang="ko" sz="800">
                          <a:solidFill>
                            <a:srgbClr val="FFFFFF"/>
                          </a:solidFill>
                        </a:rPr>
                        <a:t>Title</a:t>
                      </a:r>
                      <a:endParaRPr sz="800"/>
                    </a:p>
                  </a:txBody>
                  <a:tcPr marT="34300" marB="34300" marR="84425" marL="8442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34300" marB="34300" marR="84425" marL="8442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600"/>
                        <a:buFont typeface="Malgun Gothic"/>
                        <a:buNone/>
                      </a:pPr>
                      <a:r>
                        <a:rPr lang="ko" sz="800">
                          <a:solidFill>
                            <a:srgbClr val="FFFFFF"/>
                          </a:solidFill>
                        </a:rPr>
                        <a:t>Page</a:t>
                      </a:r>
                      <a:endParaRPr i="0" sz="8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34300" marB="34300" marR="84425" marL="8442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4300" marB="34300" marR="84425" marL="84425" anchor="ctr">
                    <a:lnL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F3F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689650" y="53538"/>
            <a:ext cx="6657600" cy="229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" name="Google Shape;36;p7"/>
          <p:cNvSpPr txBox="1"/>
          <p:nvPr/>
        </p:nvSpPr>
        <p:spPr>
          <a:xfrm>
            <a:off x="8531550" y="92100"/>
            <a:ext cx="5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550" lIns="79125" spcFirstLastPara="1" rIns="79125" wrap="square" tIns="3955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700"/>
              <a:buFont typeface="Noto Sans Symbols"/>
              <a:buNone/>
            </a:pPr>
            <a:fld id="{00000000-1234-1234-1234-123412341234}" type="slidenum">
              <a:rPr lang="ko" sz="800">
                <a:solidFill>
                  <a:srgbClr val="3F3F3F"/>
                </a:solidFill>
              </a:rPr>
              <a:t>‹#›</a:t>
            </a:fld>
            <a:endParaRPr sz="800">
              <a:solidFill>
                <a:srgbClr val="3F3F3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Header">
  <p:cSld name="CUSTOM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22665" y="45953"/>
            <a:ext cx="7008000" cy="2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8"/>
          <p:cNvSpPr txBox="1"/>
          <p:nvPr/>
        </p:nvSpPr>
        <p:spPr>
          <a:xfrm>
            <a:off x="8834858" y="106850"/>
            <a:ext cx="2184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8"/>
          <p:cNvCxnSpPr/>
          <p:nvPr/>
        </p:nvCxnSpPr>
        <p:spPr>
          <a:xfrm>
            <a:off x="98250" y="283018"/>
            <a:ext cx="8955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8"/>
          <p:cNvSpPr txBox="1"/>
          <p:nvPr>
            <p:ph idx="2" type="subTitle"/>
          </p:nvPr>
        </p:nvSpPr>
        <p:spPr>
          <a:xfrm>
            <a:off x="7030675" y="45950"/>
            <a:ext cx="1804200" cy="2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OD">
  <p:cSld name="CUSTOM_1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/>
        </p:nvSpPr>
        <p:spPr>
          <a:xfrm>
            <a:off x="3627300" y="2294700"/>
            <a:ext cx="188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chemeClr val="dk1"/>
                </a:solidFill>
              </a:rPr>
              <a:t>E.O.D.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2400" y="76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55550" y="628000"/>
            <a:ext cx="8832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sz="1200">
                <a:solidFill>
                  <a:schemeClr val="dk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numa-lms-demo.petarainsoft.com/" TargetMode="External"/><Relationship Id="rId4" Type="http://schemas.openxmlformats.org/officeDocument/2006/relationships/hyperlink" Target="https://docs.google.com/presentation/d/1s1rfKbSRQVnqd5NMInG-qIayjpImnbeFUQvw2WMgFHk/edit?usp=drive_link" TargetMode="External"/><Relationship Id="rId5" Type="http://schemas.openxmlformats.org/officeDocument/2006/relationships/hyperlink" Target="https://docs.google.com/presentation/d/1I2LVYUPUgQma9zpx549TG3Aqduv7yOdcT5xeW_fnTzA/edit?usp=drive_link" TargetMode="External"/><Relationship Id="rId6" Type="http://schemas.openxmlformats.org/officeDocument/2006/relationships/hyperlink" Target="https://todomath.atlassian.net/wiki/x/sgDW2" TargetMode="External"/><Relationship Id="rId7" Type="http://schemas.openxmlformats.org/officeDocument/2006/relationships/hyperlink" Target="https://docs.google.com/spreadsheets/d/1q5MuL5KgsXTAqWpjX9DsamrGH09AD8u2HBZBFqAeIBs/edit?gid=1575131825#gid=1575131825" TargetMode="External"/><Relationship Id="rId8" Type="http://schemas.openxmlformats.org/officeDocument/2006/relationships/hyperlink" Target="https://docs.google.com/spreadsheets/d/1oqVKstS3C8OoisNHRkeT6fe4Ajo8sP6QIayU1005tdw/edit?gid=1521375507#gid=1521375507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document/d/1UOcQ5jpGsiEsUDNqpvXN6alX5RUfCrPhfA1YPf2r0b8/edit?tab=t.0" TargetMode="External"/><Relationship Id="rId4" Type="http://schemas.openxmlformats.org/officeDocument/2006/relationships/hyperlink" Target="https://docs.google.com/spreadsheets/d/1VrBgxUY32i62lNz8Sqkm1pqKfXHV0lTAfYejXmmTqmk/edit?gid=833008012#gid=833008012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567400" y="2671775"/>
            <a:ext cx="611400" cy="22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ver2.0</a:t>
            </a:r>
            <a:endParaRPr/>
          </a:p>
        </p:txBody>
      </p:sp>
      <p:sp>
        <p:nvSpPr>
          <p:cNvPr id="50" name="Google Shape;50;p11"/>
          <p:cNvSpPr txBox="1"/>
          <p:nvPr>
            <p:ph idx="2" type="subTitle"/>
          </p:nvPr>
        </p:nvSpPr>
        <p:spPr>
          <a:xfrm>
            <a:off x="1138775" y="2671771"/>
            <a:ext cx="2108400" cy="2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26.03</a:t>
            </a:r>
            <a:endParaRPr/>
          </a:p>
        </p:txBody>
      </p:sp>
      <p:sp>
        <p:nvSpPr>
          <p:cNvPr id="51" name="Google Shape;51;p11"/>
          <p:cNvSpPr txBox="1"/>
          <p:nvPr>
            <p:ph idx="3" type="subTitle"/>
          </p:nvPr>
        </p:nvSpPr>
        <p:spPr>
          <a:xfrm>
            <a:off x="567400" y="2890874"/>
            <a:ext cx="1160100" cy="22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작성자</a:t>
            </a:r>
            <a:endParaRPr/>
          </a:p>
        </p:txBody>
      </p:sp>
      <p:sp>
        <p:nvSpPr>
          <p:cNvPr id="52" name="Google Shape;52;p11"/>
          <p:cNvSpPr txBox="1"/>
          <p:nvPr>
            <p:ph idx="4" type="subTitle"/>
          </p:nvPr>
        </p:nvSpPr>
        <p:spPr>
          <a:xfrm>
            <a:off x="1138775" y="2890886"/>
            <a:ext cx="2108400" cy="2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양세진</a:t>
            </a:r>
            <a:endParaRPr/>
          </a:p>
        </p:txBody>
      </p:sp>
      <p:sp>
        <p:nvSpPr>
          <p:cNvPr id="53" name="Google Shape;53;p11"/>
          <p:cNvSpPr txBox="1"/>
          <p:nvPr>
            <p:ph type="title"/>
          </p:nvPr>
        </p:nvSpPr>
        <p:spPr>
          <a:xfrm>
            <a:off x="566794" y="2164475"/>
            <a:ext cx="6760200" cy="4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[ES] </a:t>
            </a:r>
            <a:r>
              <a:rPr lang="ko"/>
              <a:t>클러스터 LMS 개발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152400" y="7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관련 문서</a:t>
            </a:r>
            <a:endParaRPr/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155550" y="628000"/>
            <a:ext cx="883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chemeClr val="dk1"/>
                </a:solidFill>
              </a:rPr>
              <a:t>Demo URL: </a:t>
            </a:r>
            <a:r>
              <a:rPr b="1" lang="ko" sz="9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https://enuma-lms-demo.petarainsoft.com/</a:t>
            </a:r>
            <a:endParaRPr/>
          </a:p>
          <a:p>
            <a:pPr indent="-2857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 u="sng">
                <a:solidFill>
                  <a:schemeClr val="hlink"/>
                </a:solidFill>
                <a:hlinkClick r:id="rId4"/>
              </a:rPr>
              <a:t>[ES-LMS] 클러스터 대시보드 개발_v1.0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 u="sng">
                <a:solidFill>
                  <a:schemeClr val="hlink"/>
                </a:solidFill>
                <a:hlinkClick r:id="rId5"/>
              </a:rPr>
              <a:t>[ES-LMS] 클러스터 대시보드 개발_v1.1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컨플루언스 </a:t>
            </a:r>
            <a:r>
              <a:rPr lang="ko" sz="9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기획안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스트링키 리스트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다운로드 시트 샘플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689650" y="53538"/>
            <a:ext cx="6657600" cy="2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프로젝트 일정 및 목표</a:t>
            </a:r>
            <a:endParaRPr/>
          </a:p>
        </p:txBody>
      </p:sp>
      <p:graphicFrame>
        <p:nvGraphicFramePr>
          <p:cNvPr id="65" name="Google Shape;65;p13"/>
          <p:cNvGraphicFramePr/>
          <p:nvPr/>
        </p:nvGraphicFramePr>
        <p:xfrm>
          <a:off x="201988" y="63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{B71A7076-C842-4D8B-BEAF-2D16D67EBF65}</a:tableStyleId>
              </a:tblPr>
              <a:tblGrid>
                <a:gridCol w="1360525"/>
                <a:gridCol w="1844875"/>
                <a:gridCol w="1844875"/>
                <a:gridCol w="1844875"/>
                <a:gridCol w="1844875"/>
              </a:tblGrid>
              <a:tr h="388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1분기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2분기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3분기</a:t>
                      </a:r>
                      <a:endParaRPr b="1" sz="10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4분기</a:t>
                      </a:r>
                      <a:endParaRPr b="1" sz="1000"/>
                    </a:p>
                  </a:txBody>
                  <a:tcPr marT="91425" marB="91425" marR="91425" marL="91425" anchor="ctr">
                    <a:solidFill>
                      <a:srgbClr val="CCCCCC"/>
                    </a:solidFill>
                  </a:tcPr>
                </a:tc>
              </a:tr>
              <a:tr h="620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프로젝트 목표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에누마 </a:t>
                      </a:r>
                      <a:r>
                        <a:rPr b="1" lang="ko" sz="1000"/>
                        <a:t>내부 사용자</a:t>
                      </a:r>
                      <a:r>
                        <a:rPr lang="ko" sz="1000"/>
                        <a:t>가 전체 유저(기관 42</a:t>
                      </a:r>
                      <a:r>
                        <a:rPr lang="ko" sz="1000"/>
                        <a:t>개, </a:t>
                      </a:r>
                      <a:r>
                        <a:rPr lang="ko" sz="1000"/>
                        <a:t>클러스터 97개)의 데이터를 제공하는 대시보드를 사용할 수 있다.</a:t>
                      </a:r>
                      <a:endParaRPr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에누마 </a:t>
                      </a:r>
                      <a:r>
                        <a:rPr b="1" lang="ko" sz="1000"/>
                        <a:t>외부 사용자</a:t>
                      </a:r>
                      <a:r>
                        <a:rPr lang="ko" sz="1000"/>
                        <a:t>가 직접 로그인하여 본인이 속한 클러스터의 대시보드를 사용할 수 있다.</a:t>
                      </a:r>
                      <a:endParaRPr sz="10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 hMerge="1"/>
              </a:tr>
              <a:tr h="108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기획</a:t>
                      </a:r>
                      <a:endParaRPr b="1" sz="1000"/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1. 전체 데이터 제공을 위한 기획 추가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- 클러스터 간 이동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- 클러스터 상위 개념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2. </a:t>
                      </a:r>
                      <a:r>
                        <a:rPr lang="ko" sz="1000" u="sng">
                          <a:solidFill>
                            <a:srgbClr val="0097A7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사업팀 피드백 반영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개발 팔로우업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1. 로그인, 설정 등 유저 관련 페이지 보완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2. 간단 대시보드 추가 (디자인 작업 동반)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000000"/>
                          </a:solidFill>
                        </a:rPr>
                        <a:t>개발 팔로우업</a:t>
                      </a:r>
                      <a:endParaRPr sz="10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871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/>
                        <a:t>개발</a:t>
                      </a:r>
                      <a:endParaRPr b="1" sz="10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000000"/>
                          </a:solidFill>
                        </a:rPr>
                        <a:t>전체 데이터 작업 진행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000000"/>
                          </a:solidFill>
                        </a:rPr>
                        <a:t>*</a:t>
                      </a:r>
                      <a:r>
                        <a:rPr lang="ko" sz="1000" u="sng">
                          <a:solidFill>
                            <a:srgbClr val="0097A7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PPDs</a:t>
                      </a:r>
                      <a:r>
                        <a:rPr lang="ko" sz="1000">
                          <a:solidFill>
                            <a:srgbClr val="000000"/>
                          </a:solidFill>
                        </a:rPr>
                        <a:t> 우선작업 필요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사이트 개발</a:t>
                      </a:r>
                      <a:endParaRPr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유저 사용을 위한 백엔드 작업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- LMS 계정을 사용하여 로그인</a:t>
                      </a:r>
                      <a:endParaRPr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사이트 개발</a:t>
                      </a:r>
                      <a:endParaRPr sz="1000"/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871350"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*페타레인과 작업 어떻게 할지</a:t>
                      </a:r>
                      <a:endParaRPr sz="1000"/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ko" sz="1000"/>
                        <a:t>계정 상태를 포함한 정보 제공 필요</a:t>
                      </a:r>
                      <a:endParaRPr sz="1000"/>
                    </a:p>
                    <a:p>
                      <a:pPr indent="-2921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Char char="●"/>
                      </a:pPr>
                      <a:r>
                        <a:rPr lang="ko" sz="1000"/>
                        <a:t>북뷰어/에디터처럼 페타레인 서버가 dev가 되고 에누마에 live 서버가 생기는 것인지 → 2분기까지는 페타레인 서버 사용</a:t>
                      </a:r>
                      <a:endParaRPr sz="1000"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152400" y="7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배경 및 목표 (</a:t>
            </a:r>
            <a:r>
              <a:rPr lang="ko"/>
              <a:t>2026 상반기)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155550" y="628000"/>
            <a:ext cx="883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배경</a:t>
            </a:r>
            <a:endParaRPr b="1" sz="10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ko" sz="900">
                <a:solidFill>
                  <a:schemeClr val="dk1"/>
                </a:solidFill>
              </a:rPr>
              <a:t>기관 단위</a:t>
            </a:r>
            <a:r>
              <a:rPr lang="ko" sz="900">
                <a:solidFill>
                  <a:schemeClr val="dk1"/>
                </a:solidFill>
              </a:rPr>
              <a:t>로 여러 클러스터의 데이터를 확인할 수 있는 </a:t>
            </a:r>
            <a:r>
              <a:rPr b="1" lang="ko" sz="900">
                <a:solidFill>
                  <a:schemeClr val="dk1"/>
                </a:solidFill>
              </a:rPr>
              <a:t>상위 권한 페이지(기관용 Cluster LMS)</a:t>
            </a:r>
            <a:r>
              <a:rPr lang="ko" sz="900">
                <a:solidFill>
                  <a:schemeClr val="dk1"/>
                </a:solidFill>
              </a:rPr>
              <a:t> 필요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Enuma 내부 인원이 전체 클러스터 데이터를 통합 조회할 수단 필요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b="1" lang="ko" sz="900">
                <a:solidFill>
                  <a:schemeClr val="dk1"/>
                </a:solidFill>
              </a:rPr>
              <a:t>계정 관리 기능</a:t>
            </a:r>
            <a:r>
              <a:rPr lang="ko" sz="900">
                <a:solidFill>
                  <a:schemeClr val="dk1"/>
                </a:solidFill>
              </a:rPr>
              <a:t>이 없어 Enuma Admin이 직접 계정을 제어할 방법이 없음 </a:t>
            </a:r>
            <a:r>
              <a:rPr lang="ko" sz="900">
                <a:solidFill>
                  <a:schemeClr val="dk1"/>
                </a:solidFill>
                <a:highlight>
                  <a:schemeClr val="accent6"/>
                </a:highlight>
              </a:rPr>
              <a:t>(상반기엔 Cluster LMS에서 임시로, 하반기엔 Admin Console에서)</a:t>
            </a:r>
            <a:endParaRPr sz="900">
              <a:solidFill>
                <a:schemeClr val="dk1"/>
              </a:solidFill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000">
                <a:solidFill>
                  <a:schemeClr val="dk1"/>
                </a:solidFill>
              </a:rPr>
              <a:t>개선 목표</a:t>
            </a:r>
            <a:endParaRPr b="1" sz="10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전체 데이터 추가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b="1" lang="ko" sz="900">
                <a:solidFill>
                  <a:schemeClr val="dk1"/>
                </a:solidFill>
              </a:rPr>
              <a:t>기관 42개, 클러스터 97개</a:t>
            </a:r>
            <a:r>
              <a:rPr lang="ko" sz="900">
                <a:solidFill>
                  <a:schemeClr val="dk1"/>
                </a:solidFill>
              </a:rPr>
              <a:t>의 데이터 추가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Enuma Admin을 위한 메뉴 및 기능 추가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전체 기관/클러스터 목록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타 기관/클러스터 LMS 열람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에누마 내부 사용자를 위한 계정 생성 및 관리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기관 / 클러스터용 LMS의 메뉴 및 일부 기능 분기 처리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기관용 LMS에 클러스터 검색 기능, 테이블 내 클러스터 정보 표시 추가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25" y="2799575"/>
            <a:ext cx="5870474" cy="218996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7" name="Google Shape;77;p15"/>
          <p:cNvSpPr txBox="1"/>
          <p:nvPr>
            <p:ph type="title"/>
          </p:nvPr>
        </p:nvSpPr>
        <p:spPr>
          <a:xfrm>
            <a:off x="152400" y="76200"/>
            <a:ext cx="546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GNB / LNB</a:t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135" y="866125"/>
            <a:ext cx="5870469" cy="1565080"/>
          </a:xfrm>
          <a:prstGeom prst="rect">
            <a:avLst/>
          </a:prstGeom>
          <a:noFill/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" name="Google Shape;79;p15"/>
          <p:cNvSpPr txBox="1"/>
          <p:nvPr>
            <p:ph idx="4294967295" type="body"/>
          </p:nvPr>
        </p:nvSpPr>
        <p:spPr>
          <a:xfrm>
            <a:off x="66750" y="547810"/>
            <a:ext cx="5422500" cy="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Enuma Admin Page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0" name="Google Shape;80;p15"/>
          <p:cNvSpPr txBox="1"/>
          <p:nvPr>
            <p:ph idx="4294967295" type="body"/>
          </p:nvPr>
        </p:nvSpPr>
        <p:spPr>
          <a:xfrm>
            <a:off x="66750" y="2469402"/>
            <a:ext cx="5422500" cy="3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Enuma Admin</a:t>
            </a:r>
            <a:r>
              <a:rPr lang="ko" sz="900">
                <a:solidFill>
                  <a:schemeClr val="dk1"/>
                </a:solidFill>
              </a:rPr>
              <a:t>이 특정 기관/클러스터 페이지로 이동했을 때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31835" y="3169050"/>
            <a:ext cx="348300" cy="13107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772585" y="3667650"/>
            <a:ext cx="1517100" cy="31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해당 기관/클러스터의 데이터로 생성된 테이블 표시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331835" y="4523050"/>
            <a:ext cx="348300" cy="3135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772585" y="4523050"/>
            <a:ext cx="1691400" cy="45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특정 기관/클러스터의 페이지에서도 항상 Enuma Admin Global Downloads의 화면 표시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744500" y="2821775"/>
            <a:ext cx="951000" cy="1647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15"/>
          <p:cNvCxnSpPr>
            <a:stCxn id="85" idx="1"/>
            <a:endCxn id="78" idx="1"/>
          </p:cNvCxnSpPr>
          <p:nvPr/>
        </p:nvCxnSpPr>
        <p:spPr>
          <a:xfrm rot="10800000">
            <a:off x="285200" y="1648625"/>
            <a:ext cx="459300" cy="1255500"/>
          </a:xfrm>
          <a:prstGeom prst="bentConnector3">
            <a:avLst>
              <a:gd fmla="val 151859" name="adj1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5"/>
          <p:cNvSpPr txBox="1"/>
          <p:nvPr>
            <p:ph idx="4294967295" type="body"/>
          </p:nvPr>
        </p:nvSpPr>
        <p:spPr>
          <a:xfrm>
            <a:off x="6271750" y="866100"/>
            <a:ext cx="2696700" cy="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Enuma Admin 전용 메뉴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Cluster List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Account Management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Downloads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8" name="Google Shape;88;p15"/>
          <p:cNvSpPr txBox="1"/>
          <p:nvPr>
            <p:ph idx="4294967295" type="body"/>
          </p:nvPr>
        </p:nvSpPr>
        <p:spPr>
          <a:xfrm>
            <a:off x="6271750" y="2787700"/>
            <a:ext cx="2696700" cy="9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기존 Cluster Dashboard와 동일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School Dashboard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Student Dashboard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Digital Assessment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Downloads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 title="스크린샷 2026-03-25 오전 9.12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875" y="623999"/>
            <a:ext cx="3462600" cy="28018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6395775" y="1471738"/>
            <a:ext cx="118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  <a:highlight>
                  <a:srgbClr val="E9ECEF"/>
                </a:highlight>
              </a:rPr>
              <a:t>Cluster LMS</a:t>
            </a:r>
            <a:endParaRPr b="1" sz="1300">
              <a:solidFill>
                <a:schemeClr val="dk1"/>
              </a:solidFill>
              <a:highlight>
                <a:srgbClr val="E9ECEF"/>
              </a:highlight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6000187" y="2307400"/>
            <a:ext cx="630900" cy="15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</a:rPr>
              <a:t>ID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6000187" y="2587938"/>
            <a:ext cx="630900" cy="15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</a:rPr>
              <a:t>Password</a:t>
            </a:r>
            <a:endParaRPr sz="800">
              <a:solidFill>
                <a:srgbClr val="999999"/>
              </a:solidFill>
            </a:endParaRPr>
          </a:p>
        </p:txBody>
      </p:sp>
      <p:sp>
        <p:nvSpPr>
          <p:cNvPr id="97" name="Google Shape;97;p16"/>
          <p:cNvSpPr txBox="1"/>
          <p:nvPr>
            <p:ph type="title"/>
          </p:nvPr>
        </p:nvSpPr>
        <p:spPr>
          <a:xfrm>
            <a:off x="152400" y="7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Login Page</a:t>
            </a:r>
            <a:endParaRPr/>
          </a:p>
        </p:txBody>
      </p:sp>
      <p:sp>
        <p:nvSpPr>
          <p:cNvPr id="98" name="Google Shape;98;p16"/>
          <p:cNvSpPr txBox="1"/>
          <p:nvPr>
            <p:ph idx="4294967295" type="body"/>
          </p:nvPr>
        </p:nvSpPr>
        <p:spPr>
          <a:xfrm>
            <a:off x="66750" y="623999"/>
            <a:ext cx="5422500" cy="17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계정 생성 시 입력한 이메일, 부여받은 비밀번호로 로그인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>
                <a:solidFill>
                  <a:schemeClr val="dk1"/>
                </a:solidFill>
              </a:rPr>
              <a:t>Password Reset 기능은 1분기엔 적용하지 않음 </a:t>
            </a:r>
            <a:br>
              <a:rPr lang="ko" sz="1000">
                <a:solidFill>
                  <a:schemeClr val="dk1"/>
                </a:solidFill>
              </a:rPr>
            </a:br>
            <a:r>
              <a:rPr lang="ko" sz="1000">
                <a:solidFill>
                  <a:schemeClr val="dk1"/>
                </a:solidFill>
              </a:rPr>
              <a:t>(Enuma Admin을 가진 동료에게 물어보세요)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ko" sz="1000">
                <a:solidFill>
                  <a:schemeClr val="dk1"/>
                </a:solidFill>
              </a:rPr>
              <a:t>로그인 랜딩 페이지</a:t>
            </a:r>
            <a:endParaRPr b="1" sz="10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ko">
                <a:solidFill>
                  <a:schemeClr val="dk1"/>
                </a:solidFill>
              </a:rPr>
              <a:t>ENUMA SCHOOL Cluster List (new)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152400" y="7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Cluster List (Enuma Admin)</a:t>
            </a:r>
            <a:endParaRPr/>
          </a:p>
        </p:txBody>
      </p:sp>
      <p:sp>
        <p:nvSpPr>
          <p:cNvPr id="104" name="Google Shape;104;p17"/>
          <p:cNvSpPr txBox="1"/>
          <p:nvPr>
            <p:ph idx="4294967295" type="body"/>
          </p:nvPr>
        </p:nvSpPr>
        <p:spPr>
          <a:xfrm>
            <a:off x="66750" y="624000"/>
            <a:ext cx="5757000" cy="13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검색 </a:t>
            </a:r>
            <a:r>
              <a:rPr lang="ko" sz="900">
                <a:solidFill>
                  <a:schemeClr val="dk1"/>
                </a:solidFill>
              </a:rPr>
              <a:t>필터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기관, 클러스터</a:t>
            </a:r>
            <a:r>
              <a:rPr lang="ko" sz="900">
                <a:solidFill>
                  <a:schemeClr val="dk1"/>
                </a:solidFill>
              </a:rPr>
              <a:t>, 학교 검색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리스트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에누마스쿨</a:t>
            </a:r>
            <a:r>
              <a:rPr lang="ko" sz="900">
                <a:solidFill>
                  <a:schemeClr val="dk1"/>
                </a:solidFill>
              </a:rPr>
              <a:t>을 사용하고 있는 모든 학교 리스트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학교의 기관</a:t>
            </a:r>
            <a:r>
              <a:rPr lang="ko" sz="900">
                <a:solidFill>
                  <a:schemeClr val="dk1"/>
                </a:solidFill>
              </a:rPr>
              <a:t>(없을 경우 공란)</a:t>
            </a:r>
            <a:r>
              <a:rPr lang="ko" sz="900">
                <a:solidFill>
                  <a:schemeClr val="dk1"/>
                </a:solidFill>
              </a:rPr>
              <a:t>, 클러스터, 학교 이름, 사용 중인 라이센스 종류, 부여 라이센스 수, 사용 중 라이센스 수 표시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기관 명 클릭 시: 해당 기관의 데이터만 제공하는 Cluster LMS 화면으로 이동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클러스터 명 클릭 시: </a:t>
            </a:r>
            <a:r>
              <a:rPr lang="ko" sz="900">
                <a:solidFill>
                  <a:schemeClr val="dk1"/>
                </a:solidFill>
              </a:rPr>
              <a:t>해당 클러스터의 데이터만 제공하는 Cluster LMS 화면으로 이동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99550" y="2050650"/>
            <a:ext cx="5476800" cy="3069900"/>
          </a:xfrm>
          <a:prstGeom prst="rect">
            <a:avLst/>
          </a:prstGeom>
          <a:solidFill>
            <a:srgbClr val="E9ECEF"/>
          </a:solidFill>
          <a:ln>
            <a:noFill/>
          </a:ln>
        </p:spPr>
        <p:txBody>
          <a:bodyPr anchorCtr="0" anchor="ctr" bIns="94750" lIns="94750" spcFirstLastPara="1" rIns="94750" wrap="square" tIns="94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1"/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40" y="2050650"/>
            <a:ext cx="5433958" cy="302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4790925" y="938251"/>
            <a:ext cx="1675800" cy="1077600"/>
          </a:xfrm>
          <a:prstGeom prst="roundRect">
            <a:avLst>
              <a:gd fmla="val 9755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152400" y="7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Enuma Admin</a:t>
            </a:r>
            <a:r>
              <a:rPr lang="ko"/>
              <a:t>이 특정 기관/클러스터 데이터 조회 및 다운로드 요청 플로우</a:t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224000" y="705175"/>
            <a:ext cx="1003800" cy="356700"/>
          </a:xfrm>
          <a:prstGeom prst="roundRect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Cluster List</a:t>
            </a:r>
            <a:endParaRPr sz="1000"/>
          </a:p>
        </p:txBody>
      </p:sp>
      <p:sp>
        <p:nvSpPr>
          <p:cNvPr id="114" name="Google Shape;114;p18"/>
          <p:cNvSpPr/>
          <p:nvPr/>
        </p:nvSpPr>
        <p:spPr>
          <a:xfrm>
            <a:off x="2884850" y="705175"/>
            <a:ext cx="1675800" cy="356700"/>
          </a:xfrm>
          <a:prstGeom prst="roundRect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기관</a:t>
            </a:r>
            <a:r>
              <a:rPr lang="ko" sz="1000"/>
              <a:t> A</a:t>
            </a:r>
            <a:r>
              <a:rPr lang="ko" sz="1000"/>
              <a:t>의 데이터만 표시되는</a:t>
            </a:r>
            <a:r>
              <a:rPr lang="ko" sz="1000"/>
              <a:t> Cluster LMS</a:t>
            </a:r>
            <a:r>
              <a:rPr lang="ko" sz="1000"/>
              <a:t>로 이동</a:t>
            </a:r>
            <a:endParaRPr sz="1000"/>
          </a:p>
        </p:txBody>
      </p:sp>
      <p:sp>
        <p:nvSpPr>
          <p:cNvPr id="115" name="Google Shape;115;p18"/>
          <p:cNvSpPr/>
          <p:nvPr/>
        </p:nvSpPr>
        <p:spPr>
          <a:xfrm>
            <a:off x="4886325" y="705168"/>
            <a:ext cx="1485000" cy="356700"/>
          </a:xfrm>
          <a:prstGeom prst="roundRect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메뉴에서 데이터 조회 및 다운로드 요청</a:t>
            </a:r>
            <a:endParaRPr sz="1000"/>
          </a:p>
        </p:txBody>
      </p:sp>
      <p:sp>
        <p:nvSpPr>
          <p:cNvPr id="116" name="Google Shape;116;p18"/>
          <p:cNvSpPr/>
          <p:nvPr/>
        </p:nvSpPr>
        <p:spPr>
          <a:xfrm>
            <a:off x="5064675" y="1169742"/>
            <a:ext cx="1128300" cy="219000"/>
          </a:xfrm>
          <a:prstGeom prst="roundRect">
            <a:avLst>
              <a:gd fmla="val 9755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School Dashboard</a:t>
            </a:r>
            <a:endParaRPr sz="800"/>
          </a:p>
        </p:txBody>
      </p:sp>
      <p:sp>
        <p:nvSpPr>
          <p:cNvPr id="117" name="Google Shape;117;p18"/>
          <p:cNvSpPr/>
          <p:nvPr/>
        </p:nvSpPr>
        <p:spPr>
          <a:xfrm>
            <a:off x="5064675" y="1423517"/>
            <a:ext cx="1128300" cy="219000"/>
          </a:xfrm>
          <a:prstGeom prst="roundRect">
            <a:avLst>
              <a:gd fmla="val 9755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Student</a:t>
            </a:r>
            <a:r>
              <a:rPr lang="ko" sz="800"/>
              <a:t> Dashboard</a:t>
            </a:r>
            <a:endParaRPr sz="800"/>
          </a:p>
        </p:txBody>
      </p:sp>
      <p:sp>
        <p:nvSpPr>
          <p:cNvPr id="118" name="Google Shape;118;p18"/>
          <p:cNvSpPr/>
          <p:nvPr/>
        </p:nvSpPr>
        <p:spPr>
          <a:xfrm>
            <a:off x="5064675" y="1677292"/>
            <a:ext cx="1128300" cy="219000"/>
          </a:xfrm>
          <a:prstGeom prst="roundRect">
            <a:avLst>
              <a:gd fmla="val 9755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Digital Assessment</a:t>
            </a:r>
            <a:endParaRPr sz="800"/>
          </a:p>
        </p:txBody>
      </p:sp>
      <p:sp>
        <p:nvSpPr>
          <p:cNvPr id="119" name="Google Shape;119;p18"/>
          <p:cNvSpPr/>
          <p:nvPr/>
        </p:nvSpPr>
        <p:spPr>
          <a:xfrm>
            <a:off x="1554425" y="705163"/>
            <a:ext cx="1003800" cy="356700"/>
          </a:xfrm>
          <a:prstGeom prst="roundRect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리스트에서 기관 A 클릭</a:t>
            </a:r>
            <a:endParaRPr sz="1000"/>
          </a:p>
        </p:txBody>
      </p:sp>
      <p:cxnSp>
        <p:nvCxnSpPr>
          <p:cNvPr id="120" name="Google Shape;120;p18"/>
          <p:cNvCxnSpPr>
            <a:stCxn id="113" idx="3"/>
            <a:endCxn id="119" idx="1"/>
          </p:cNvCxnSpPr>
          <p:nvPr/>
        </p:nvCxnSpPr>
        <p:spPr>
          <a:xfrm>
            <a:off x="1227800" y="883525"/>
            <a:ext cx="3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p18"/>
          <p:cNvCxnSpPr>
            <a:stCxn id="119" idx="3"/>
            <a:endCxn id="114" idx="1"/>
          </p:cNvCxnSpPr>
          <p:nvPr/>
        </p:nvCxnSpPr>
        <p:spPr>
          <a:xfrm>
            <a:off x="2558225" y="883513"/>
            <a:ext cx="32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" name="Google Shape;122;p18"/>
          <p:cNvSpPr/>
          <p:nvPr/>
        </p:nvSpPr>
        <p:spPr>
          <a:xfrm>
            <a:off x="6697000" y="705168"/>
            <a:ext cx="1485000" cy="356700"/>
          </a:xfrm>
          <a:prstGeom prst="roundRect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/enuma-admin/downloads에 요청 쌓임</a:t>
            </a:r>
            <a:endParaRPr sz="1000"/>
          </a:p>
        </p:txBody>
      </p:sp>
      <p:cxnSp>
        <p:nvCxnSpPr>
          <p:cNvPr id="123" name="Google Shape;123;p18"/>
          <p:cNvCxnSpPr>
            <a:stCxn id="114" idx="3"/>
            <a:endCxn id="115" idx="1"/>
          </p:cNvCxnSpPr>
          <p:nvPr/>
        </p:nvCxnSpPr>
        <p:spPr>
          <a:xfrm>
            <a:off x="4560650" y="883525"/>
            <a:ext cx="32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8"/>
          <p:cNvCxnSpPr>
            <a:stCxn id="115" idx="3"/>
            <a:endCxn id="122" idx="1"/>
          </p:cNvCxnSpPr>
          <p:nvPr/>
        </p:nvCxnSpPr>
        <p:spPr>
          <a:xfrm>
            <a:off x="6371325" y="883518"/>
            <a:ext cx="32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5" name="Google Shape;12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0925" y="2337600"/>
            <a:ext cx="3766636" cy="218127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6" name="Google Shape;126;p18"/>
          <p:cNvCxnSpPr>
            <a:stCxn id="111" idx="2"/>
            <a:endCxn id="125" idx="0"/>
          </p:cNvCxnSpPr>
          <p:nvPr/>
        </p:nvCxnSpPr>
        <p:spPr>
          <a:xfrm flipH="1" rot="-5400000">
            <a:off x="5990775" y="1653901"/>
            <a:ext cx="321600" cy="1045500"/>
          </a:xfrm>
          <a:prstGeom prst="bentConnector3">
            <a:avLst>
              <a:gd fmla="val 50023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127" name="Google Shape;127;p18"/>
          <p:cNvGrpSpPr/>
          <p:nvPr/>
        </p:nvGrpSpPr>
        <p:grpSpPr>
          <a:xfrm>
            <a:off x="215850" y="2337600"/>
            <a:ext cx="3919705" cy="2181275"/>
            <a:chOff x="215850" y="2337600"/>
            <a:chExt cx="3919705" cy="2181275"/>
          </a:xfrm>
        </p:grpSpPr>
        <p:grpSp>
          <p:nvGrpSpPr>
            <p:cNvPr id="128" name="Google Shape;128;p18"/>
            <p:cNvGrpSpPr/>
            <p:nvPr/>
          </p:nvGrpSpPr>
          <p:grpSpPr>
            <a:xfrm>
              <a:off x="224003" y="2339800"/>
              <a:ext cx="3911552" cy="2179075"/>
              <a:chOff x="224003" y="2305200"/>
              <a:chExt cx="3911552" cy="2179075"/>
            </a:xfrm>
          </p:grpSpPr>
          <p:pic>
            <p:nvPicPr>
              <p:cNvPr id="129" name="Google Shape;129;p1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24003" y="2305200"/>
                <a:ext cx="3911552" cy="10428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" name="Google Shape;130;p18"/>
              <p:cNvSpPr/>
              <p:nvPr/>
            </p:nvSpPr>
            <p:spPr>
              <a:xfrm>
                <a:off x="506050" y="2449975"/>
                <a:ext cx="3629400" cy="2034300"/>
              </a:xfrm>
              <a:prstGeom prst="rect">
                <a:avLst/>
              </a:prstGeom>
              <a:solidFill>
                <a:srgbClr val="E9ECEF"/>
              </a:solidFill>
              <a:ln>
                <a:noFill/>
              </a:ln>
            </p:spPr>
            <p:txBody>
              <a:bodyPr anchorCtr="0" anchor="ctr" bIns="62800" lIns="62800" spcFirstLastPara="1" rIns="62800" wrap="square" tIns="628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62"/>
              </a:p>
            </p:txBody>
          </p:sp>
          <p:pic>
            <p:nvPicPr>
              <p:cNvPr id="131" name="Google Shape;131;p18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526225" y="2449975"/>
                <a:ext cx="3601208" cy="200282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2" name="Google Shape;132;p18"/>
            <p:cNvSpPr/>
            <p:nvPr/>
          </p:nvSpPr>
          <p:spPr>
            <a:xfrm>
              <a:off x="215850" y="2337600"/>
              <a:ext cx="3911700" cy="21792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33" name="Google Shape;133;p18"/>
          <p:cNvCxnSpPr>
            <a:stCxn id="113" idx="2"/>
            <a:endCxn id="132" idx="0"/>
          </p:cNvCxnSpPr>
          <p:nvPr/>
        </p:nvCxnSpPr>
        <p:spPr>
          <a:xfrm flipH="1" rot="-5400000">
            <a:off x="810950" y="976825"/>
            <a:ext cx="1275600" cy="14457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152400" y="7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기관 데이터 조회용 Cluster LMS</a:t>
            </a:r>
            <a:endParaRPr/>
          </a:p>
        </p:txBody>
      </p:sp>
      <p:sp>
        <p:nvSpPr>
          <p:cNvPr id="139" name="Google Shape;139;p19"/>
          <p:cNvSpPr txBox="1"/>
          <p:nvPr>
            <p:ph idx="4294967295" type="body"/>
          </p:nvPr>
        </p:nvSpPr>
        <p:spPr>
          <a:xfrm>
            <a:off x="66750" y="624000"/>
            <a:ext cx="5757000" cy="9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대상 메뉴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School Dashboard, Student Dashboard, Digital Assessment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공통 추가 기능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검색 필터에 클러스터 추가 (이름 검색은 삭제)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결과 테이블에 학교의 소속 클러스터명 추가 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50" y="1601100"/>
            <a:ext cx="5945830" cy="34432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837850" y="2465650"/>
            <a:ext cx="1377300" cy="2553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766275" y="2900100"/>
            <a:ext cx="710400" cy="21936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152400" y="7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/>
              <a:t>클러스터 </a:t>
            </a:r>
            <a:r>
              <a:rPr lang="ko"/>
              <a:t>데이터 조회용</a:t>
            </a:r>
            <a:r>
              <a:rPr lang="ko"/>
              <a:t> Cluster LMS</a:t>
            </a:r>
            <a:endParaRPr/>
          </a:p>
        </p:txBody>
      </p:sp>
      <p:sp>
        <p:nvSpPr>
          <p:cNvPr id="148" name="Google Shape;148;p20"/>
          <p:cNvSpPr txBox="1"/>
          <p:nvPr>
            <p:ph idx="4294967295" type="body"/>
          </p:nvPr>
        </p:nvSpPr>
        <p:spPr>
          <a:xfrm>
            <a:off x="66750" y="624000"/>
            <a:ext cx="5757000" cy="3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기능 변동 내용 없음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선택한 클러스터 소속 학교 및 학생 데이터만 표시되도록 수정 필요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49" name="Google Shape;149;p20" title="스크린샷 2026-03-30 오전 9.50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2200"/>
            <a:ext cx="7537951" cy="383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" name="Google Shape;150;p20"/>
          <p:cNvSpPr txBox="1"/>
          <p:nvPr/>
        </p:nvSpPr>
        <p:spPr>
          <a:xfrm>
            <a:off x="3588612" y="1095088"/>
            <a:ext cx="9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FFFFFF"/>
                </a:solidFill>
                <a:highlight>
                  <a:schemeClr val="accent5"/>
                </a:highlight>
              </a:rPr>
              <a:t>Cluster Name</a:t>
            </a:r>
            <a:endParaRPr sz="800">
              <a:solidFill>
                <a:srgbClr val="FFFFFF"/>
              </a:solidFill>
              <a:highlight>
                <a:schemeClr val="accent5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88" y="682084"/>
            <a:ext cx="6451200" cy="3742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" name="Google Shape;156;p21"/>
          <p:cNvSpPr txBox="1"/>
          <p:nvPr>
            <p:ph type="title"/>
          </p:nvPr>
        </p:nvSpPr>
        <p:spPr>
          <a:xfrm>
            <a:off x="152400" y="7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Downloads</a:t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1418550" y="1601125"/>
            <a:ext cx="954000" cy="1626000"/>
          </a:xfrm>
          <a:prstGeom prst="rect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>
            <p:ph idx="4294967295" type="body"/>
          </p:nvPr>
        </p:nvSpPr>
        <p:spPr>
          <a:xfrm>
            <a:off x="6520625" y="648900"/>
            <a:ext cx="2530500" cy="16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Source 칼럼 추가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데이터를 요청한 Source 기관 및 클러스터 정보 표시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기관</a:t>
            </a:r>
            <a:endParaRPr sz="900">
              <a:solidFill>
                <a:schemeClr val="dk1"/>
              </a:solidFill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</a:pPr>
            <a:r>
              <a:rPr lang="ko" sz="900">
                <a:solidFill>
                  <a:schemeClr val="dk1"/>
                </a:solidFill>
              </a:rPr>
              <a:t>기관명</a:t>
            </a:r>
            <a:endParaRPr sz="900">
              <a:solidFill>
                <a:schemeClr val="dk1"/>
              </a:solidFill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</a:pPr>
            <a:r>
              <a:rPr lang="ko" sz="900">
                <a:solidFill>
                  <a:schemeClr val="dk1"/>
                </a:solidFill>
              </a:rPr>
              <a:t>Institution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클러스터</a:t>
            </a:r>
            <a:endParaRPr sz="900">
              <a:solidFill>
                <a:schemeClr val="dk1"/>
              </a:solidFill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</a:pPr>
            <a:r>
              <a:rPr lang="ko" sz="900">
                <a:solidFill>
                  <a:schemeClr val="dk1"/>
                </a:solidFill>
              </a:rPr>
              <a:t>클러스터명</a:t>
            </a:r>
            <a:endParaRPr sz="900">
              <a:solidFill>
                <a:schemeClr val="dk1"/>
              </a:solidFill>
            </a:endParaRPr>
          </a:p>
          <a:p>
            <a:pPr indent="-2857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romanLcPeriod"/>
            </a:pPr>
            <a:r>
              <a:rPr lang="ko" sz="900">
                <a:solidFill>
                  <a:schemeClr val="dk1"/>
                </a:solidFill>
              </a:rPr>
              <a:t>Cluster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idx="4294967295" type="body"/>
          </p:nvPr>
        </p:nvSpPr>
        <p:spPr>
          <a:xfrm>
            <a:off x="66750" y="624012"/>
            <a:ext cx="5422500" cy="16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Enuma Admin</a:t>
            </a:r>
            <a:r>
              <a:rPr lang="ko" sz="900">
                <a:solidFill>
                  <a:schemeClr val="dk1"/>
                </a:solidFill>
              </a:rPr>
              <a:t>의 Cluster LMS에서만 접근 가능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계정 생성 </a:t>
            </a:r>
            <a:r>
              <a:rPr lang="ko" sz="900">
                <a:solidFill>
                  <a:schemeClr val="dk1"/>
                </a:solidFill>
              </a:rPr>
              <a:t>기능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이메일 주소</a:t>
            </a:r>
            <a:r>
              <a:rPr lang="ko" sz="900">
                <a:solidFill>
                  <a:schemeClr val="dk1"/>
                </a:solidFill>
              </a:rPr>
              <a:t>만</a:t>
            </a:r>
            <a:r>
              <a:rPr lang="ko" sz="900">
                <a:solidFill>
                  <a:schemeClr val="dk1"/>
                </a:solidFill>
              </a:rPr>
              <a:t> 입력</a:t>
            </a:r>
            <a:r>
              <a:rPr lang="ko" sz="900">
                <a:solidFill>
                  <a:schemeClr val="dk1"/>
                </a:solidFill>
              </a:rPr>
              <a:t>하여 생성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이미 가입된 이메일 주소 입력 시 오류 문구 표시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Password는 알파벳 대문자, 숫자 조합의 4자리로 자동 생성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계정 목록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Email, Rights, Password, Delete 표시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ko" sz="900">
                <a:solidFill>
                  <a:schemeClr val="dk1"/>
                </a:solidFill>
              </a:rPr>
              <a:t>계정 삭제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경고 알럿 제공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lphaLcPeriod"/>
            </a:pPr>
            <a:r>
              <a:rPr lang="ko" sz="900">
                <a:solidFill>
                  <a:schemeClr val="dk1"/>
                </a:solidFill>
              </a:rPr>
              <a:t>[Delete] 선택 시 계정 리스트에서 계정 삭제 (Data에서는 보유)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64" name="Google Shape;164;p22"/>
          <p:cNvSpPr txBox="1"/>
          <p:nvPr>
            <p:ph type="title"/>
          </p:nvPr>
        </p:nvSpPr>
        <p:spPr>
          <a:xfrm>
            <a:off x="152400" y="7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Account Management (1분기 임시)</a:t>
            </a:r>
            <a:endParaRPr/>
          </a:p>
        </p:txBody>
      </p:sp>
      <p:pic>
        <p:nvPicPr>
          <p:cNvPr id="165" name="Google Shape;165;p22" title="스크린샷 2026-03-27 오후 2.39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75" y="2460825"/>
            <a:ext cx="5861349" cy="262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 txBox="1"/>
          <p:nvPr/>
        </p:nvSpPr>
        <p:spPr>
          <a:xfrm>
            <a:off x="152400" y="3124475"/>
            <a:ext cx="2952900" cy="174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</a:rPr>
              <a:t> </a:t>
            </a:r>
            <a:r>
              <a:rPr lang="ko" sz="900">
                <a:solidFill>
                  <a:schemeClr val="dk2"/>
                </a:solidFill>
              </a:rPr>
              <a:t>Email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3105350" y="3124475"/>
            <a:ext cx="851400" cy="174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</a:rPr>
              <a:t>Rights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4046538" y="3124475"/>
            <a:ext cx="547500" cy="174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</a:rPr>
              <a:t>Password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4683850" y="3124475"/>
            <a:ext cx="1059600" cy="174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2"/>
                </a:solidFill>
              </a:rPr>
              <a:t>Delete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777675" y="3401325"/>
            <a:ext cx="5475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chemeClr val="dk2"/>
                </a:solidFill>
              </a:rPr>
              <a:t>Enuma Admin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777675" y="3746050"/>
            <a:ext cx="547500" cy="2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chemeClr val="dk2"/>
                </a:solidFill>
              </a:rPr>
              <a:t>Enuma Admin</a:t>
            </a:r>
            <a:endParaRPr sz="700">
              <a:solidFill>
                <a:schemeClr val="dk2"/>
              </a:solidFill>
            </a:endParaRPr>
          </a:p>
        </p:txBody>
      </p:sp>
      <p:graphicFrame>
        <p:nvGraphicFramePr>
          <p:cNvPr id="172" name="Google Shape;172;p22"/>
          <p:cNvGraphicFramePr/>
          <p:nvPr/>
        </p:nvGraphicFramePr>
        <p:xfrm>
          <a:off x="166425" y="340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{B71A7076-C842-4D8B-BEAF-2D16D67EBF65}</a:tableStyleId>
              </a:tblPr>
              <a:tblGrid>
                <a:gridCol w="2885325"/>
                <a:gridCol w="892850"/>
                <a:gridCol w="739250"/>
                <a:gridCol w="1059450"/>
              </a:tblGrid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abc@enuma.com</a:t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Enuma Admin</a:t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DJ3S</a:t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abc@enuma.com</a:t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Enuma Admin</a:t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FVH8</a:t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abc@enuma.com</a:t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Enuma Admin</a:t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LLD2</a:t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</a:tr>
              <a:tr h="33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abc@enuma.com</a:t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Enuma Admin</a:t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13JZ</a:t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36000" marB="36000" marR="54000" marL="54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73" name="Google Shape;17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616" y="3478425"/>
            <a:ext cx="174900" cy="1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616" y="3816409"/>
            <a:ext cx="174900" cy="1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616" y="4146097"/>
            <a:ext cx="174900" cy="1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616" y="4477321"/>
            <a:ext cx="174900" cy="17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/>
          <p:nvPr/>
        </p:nvSpPr>
        <p:spPr>
          <a:xfrm>
            <a:off x="5121849" y="2529025"/>
            <a:ext cx="767700" cy="2520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8FAFC"/>
                </a:solidFill>
              </a:rPr>
              <a:t>+  Create</a:t>
            </a:r>
            <a:endParaRPr b="1" sz="1000">
              <a:solidFill>
                <a:srgbClr val="F8FAFC"/>
              </a:solidFill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6249925" y="548750"/>
            <a:ext cx="2787600" cy="128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Create an account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Email</a:t>
            </a:r>
            <a:r>
              <a:rPr lang="ko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6714500" y="1027305"/>
            <a:ext cx="2241300" cy="25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7259875" y="1488375"/>
            <a:ext cx="767700" cy="2520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8FAFC"/>
                </a:solidFill>
              </a:rPr>
              <a:t>Create</a:t>
            </a:r>
            <a:endParaRPr b="1" sz="1000">
              <a:solidFill>
                <a:srgbClr val="F8FAFC"/>
              </a:solidFill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6249925" y="2000250"/>
            <a:ext cx="2787600" cy="128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/>
              <a:t>Create an account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Email</a:t>
            </a:r>
            <a:r>
              <a:rPr lang="ko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6714500" y="2470509"/>
            <a:ext cx="2241300" cy="25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7259875" y="2939875"/>
            <a:ext cx="767700" cy="2520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8FAFC"/>
                </a:solidFill>
              </a:rPr>
              <a:t>Create</a:t>
            </a:r>
            <a:endParaRPr b="1" sz="1000">
              <a:solidFill>
                <a:srgbClr val="F8FAFC"/>
              </a:solidFill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6648132" y="2657051"/>
            <a:ext cx="240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CC0000"/>
                </a:solidFill>
              </a:rPr>
              <a:t>An account with this email address already exists.</a:t>
            </a:r>
            <a:endParaRPr sz="700">
              <a:solidFill>
                <a:srgbClr val="CC0000"/>
              </a:solidFill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6724326" y="2446575"/>
            <a:ext cx="218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abc@enuma.com</a:t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186" name="Google Shape;186;p22"/>
          <p:cNvCxnSpPr>
            <a:stCxn id="177" idx="3"/>
            <a:endCxn id="178" idx="1"/>
          </p:cNvCxnSpPr>
          <p:nvPr/>
        </p:nvCxnSpPr>
        <p:spPr>
          <a:xfrm flipH="1" rot="10800000">
            <a:off x="5889549" y="1189525"/>
            <a:ext cx="360300" cy="1465500"/>
          </a:xfrm>
          <a:prstGeom prst="bent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7" name="Google Shape;187;p22" title="스크린샷 2026-03-27 오후 3.01.3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9925" y="3377379"/>
            <a:ext cx="1818225" cy="150859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6397275" y="3520525"/>
            <a:ext cx="1260000" cy="17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solidFill>
                  <a:schemeClr val="dk1"/>
                </a:solidFill>
              </a:rPr>
              <a:t>Delete Account</a:t>
            </a:r>
            <a:endParaRPr b="1" sz="900">
              <a:solidFill>
                <a:schemeClr val="dk1"/>
              </a:solidFill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6470975" y="3909512"/>
            <a:ext cx="1376100" cy="40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8000" lIns="18000" spcFirstLastPara="1" rIns="18000" wrap="square" tIns="180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Are you sure you want to delete this account?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chemeClr val="dk1"/>
                </a:solidFill>
              </a:rPr>
              <a:t>{email}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7176108" y="4419329"/>
            <a:ext cx="547500" cy="2520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F8FAFC"/>
                </a:solidFill>
              </a:rPr>
              <a:t>Delete</a:t>
            </a:r>
            <a:endParaRPr sz="800">
              <a:solidFill>
                <a:srgbClr val="F8FAFC"/>
              </a:solidFill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6583100" y="4419329"/>
            <a:ext cx="547500" cy="25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Cancel</a:t>
            </a:r>
            <a:endParaRPr sz="800"/>
          </a:p>
        </p:txBody>
      </p:sp>
      <p:cxnSp>
        <p:nvCxnSpPr>
          <p:cNvPr id="192" name="Google Shape;192;p22"/>
          <p:cNvCxnSpPr>
            <a:stCxn id="176" idx="3"/>
            <a:endCxn id="187" idx="1"/>
          </p:cNvCxnSpPr>
          <p:nvPr/>
        </p:nvCxnSpPr>
        <p:spPr>
          <a:xfrm flipH="1" rot="10800000">
            <a:off x="5309516" y="4131571"/>
            <a:ext cx="940500" cy="433200"/>
          </a:xfrm>
          <a:prstGeom prst="bentConnector3">
            <a:avLst>
              <a:gd fmla="val 8202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